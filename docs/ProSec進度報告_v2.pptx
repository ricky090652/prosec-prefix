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進度報告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2026/09/03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Topic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1206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SVEN (2023)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Prefix tuning for secure / insecure code generation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Freezes the base model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CodeGen (2022), torch 1.13 → not reusable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Real-world GitHub commits → small and noisy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34440"/>
            <a:ext cx="51206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ProSec (2025)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Proactively synthesized vulnerability data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Preference optimization for fine-tuning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Adapts with LoRA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08960" y="2971800"/>
            <a:ext cx="1828800" cy="8229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223760" y="2971800"/>
            <a:ext cx="1828800" cy="8229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3154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Prefix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3063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Data construct pipeline
preference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840480"/>
            <a:ext cx="6858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ProSec's data and pipeline with </a:t>
            </a:r>
            <a:r>
              <a:rPr sz="150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prefix (DPO) instead of LoRA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Data syn &amp; sel pipeline of ProSec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6766560" cy="4023360"/>
          </a:xfrm>
          <a:prstGeom prst="rect">
            <a:avLst/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  <a:ea typeface="Microsoft JhengHei"/>
                <a:cs typeface="Calibri"/>
              </a:rPr>
              <a:t>貼上原本的 ProSec Figure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234440"/>
            <a:ext cx="4114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Step 1  Synthesize vulnerability-inducing instructions</a:t>
            </a:r>
          </a:p>
          <a:p>
            <a:pPr lvl="1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  <a:ea typeface="Microsoft JhengHei"/>
                <a:cs typeface="Calibri"/>
              </a:rPr>
              <a:t>– 50,000 instructions, clustered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Step 2  Construct candidate preference data</a:t>
            </a:r>
          </a:p>
          <a:p>
            <a:pPr lvl="1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  <a:ea typeface="Microsoft JhengHei"/>
                <a:cs typeface="Calibri"/>
              </a:rPr>
              <a:t>– Code LLM writes normal / fixed / vulnerable code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Step 3  Select high-quality samples</a:t>
            </a:r>
          </a:p>
          <a:p>
            <a:pPr lvl="1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  <a:ea typeface="Microsoft JhengHei"/>
                <a:cs typeface="Calibri"/>
              </a:rPr>
              <a:t>– Training-dynamics sampler + heuristic filter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4160520"/>
            <a:ext cx="41148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我們拿到的 45,785 筆已經是 Step 3 的輸出</a:t>
            </a:r>
          </a:p>
          <a:p>
            <a:pPr algn="ctr">
              <a:spcAft>
                <a:spcPts val="1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三項指紋：嚴格分區 · y_f 已去重 · D_norm 候選數卡在 2</a:t>
            </a:r>
          </a:p>
          <a:p>
            <a:pPr algn="ctr">
              <a:spcAft>
                <a:spcPts val="1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→ 再做一次 selection 是第二道過濾，不是復現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LoRA &amp; Prefix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LoRA — 在 transformer 內部層注入可訓練的 low-rank 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430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Prefix — 在每層的 key/value 序列前插入虛擬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394960" cy="1463040"/>
          </a:xfrm>
          <a:prstGeom prst="rect">
            <a:avLst/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  <a:ea typeface="Microsoft JhengHei"/>
                <a:cs typeface="Calibri"/>
              </a:rPr>
              <a:t>貼上 LoRA 結構圖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508760"/>
            <a:ext cx="5394960" cy="1463040"/>
          </a:xfrm>
          <a:prstGeom prst="rect">
            <a:avLst/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  <a:ea typeface="Microsoft JhengHei"/>
                <a:cs typeface="Calibri"/>
              </a:rPr>
              <a:t>貼上 Prefix / KV 序列圖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39496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Pros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效能更接近全參數微調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使用容易（開源解法多）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Cons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複雜任務調高 rank → 參數量與記憶體增加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改變預訓練權重，切換需 merge / unmerge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108960"/>
            <a:ext cx="539496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Pros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參數量少，完整保留預訓練權重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可依情境套用不同 prefix，切換≈換一組 KV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同一個 batch 內可用不同 prefix（LoRA 做不到）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Cons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效能相對較差，且梯度只能經 softmax 回傳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5303520"/>
          <a:ext cx="11247120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40"/>
                <a:gridCol w="2499360"/>
                <a:gridCol w="2499360"/>
                <a:gridCol w="24993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可訓練參數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adapter 大小 (bf16)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實測最佳 lr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r=8, all-linear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12,582,912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≈ 25.2 MB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5e-6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nvt=16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3,145,728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≈ 6.3 MB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5e-5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Different from paper and follows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657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ProSec paper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This work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Reason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PEFT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r=8, α=16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nvt = 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Pluggable, flexible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Objective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SimPO (β=1.5, γ=0.5)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DPO (β=0.05)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SimPO 在全長訓練下兩臂都崩（prefix step ~450、LoRA step ~350）；論文 Table 8 自己驗證過 DPO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Training length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1500 steps @ batch 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800 steps @ batch 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≈ 1.1 epoch over 45,785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target modules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未指定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all-linear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我們自己的假設，論文只寫 r / 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Evaluation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PurpleLlama ∩ SafeCoder
38 pairs / 694 cases（未釋出）
HumanEval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Rebuilt 36 pairs / 693 cases
HumanEval
Degeneration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子集必須自行重建
The security rate can be faked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ProSec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265176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Haiku-vul-inducing-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instructions-clustered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(50,000 instructions)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600200"/>
            <a:ext cx="31089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Phi-3-mini generates</a:t>
            </a:r>
          </a:p>
          <a:p>
            <a:pPr algn="ctr">
              <a:spcAft>
                <a:spcPts val="100"/>
              </a:spcAft>
            </a:pPr>
            <a:r>
              <a:rPr sz="1250" b="0" i="0">
                <a:solidFill>
                  <a:srgbClr val="4472C4"/>
                </a:solidFill>
                <a:latin typeface="Calibri"/>
                <a:ea typeface="Microsoft JhengHei"/>
                <a:cs typeface="Calibri"/>
              </a:rPr>
              <a:t>Vulnerable + fixed code</a:t>
            </a:r>
          </a:p>
          <a:p>
            <a:pPr algn="ctr">
              <a:spcAft>
                <a:spcPts val="1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(validated by detector)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3977639"/>
            <a:ext cx="31089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Phi-3-mini generates</a:t>
            </a:r>
          </a:p>
          <a:p>
            <a:pPr algn="ctr">
              <a:spcAft>
                <a:spcPts val="100"/>
              </a:spcAft>
            </a:pPr>
            <a:r>
              <a:rPr sz="1250" b="0" i="0">
                <a:solidFill>
                  <a:srgbClr val="1F7A3D"/>
                </a:solidFill>
                <a:latin typeface="Calibri"/>
                <a:ea typeface="Microsoft JhengHei"/>
                <a:cs typeface="Calibri"/>
              </a:rPr>
              <a:t>Normal code + benign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600200"/>
            <a:ext cx="29260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4472C4"/>
                </a:solidFill>
                <a:latin typeface="Calibri"/>
                <a:ea typeface="Microsoft JhengHei"/>
                <a:cs typeface="Calibri"/>
              </a:rPr>
              <a:t>D_sec, 27,400 pairs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fixed ≻ vulnerable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977639"/>
            <a:ext cx="29260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1F7A3D"/>
                </a:solidFill>
                <a:latin typeface="Calibri"/>
                <a:ea typeface="Microsoft JhengHei"/>
                <a:cs typeface="Calibri"/>
              </a:rPr>
              <a:t>D_norm, 18,385 pairs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normal ≻ over-secure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0" y="2743200"/>
            <a:ext cx="137160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45,785</a:t>
            </a:r>
          </a:p>
          <a:p>
            <a:pPr algn="ctr">
              <a:spcAft>
                <a:spcPts val="1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pairs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108960" y="2194560"/>
            <a:ext cx="594360" cy="8229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08960" y="3566160"/>
            <a:ext cx="594360" cy="8229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03720" y="2121408"/>
            <a:ext cx="457200" cy="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03720" y="4498848"/>
            <a:ext cx="457200" cy="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78440" y="2377440"/>
            <a:ext cx="502920" cy="64008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378440" y="3566160"/>
            <a:ext cx="502920" cy="64008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Whole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2860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ProSec dataset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(45,785 pairs)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600200"/>
            <a:ext cx="23774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(prompt, chosen,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rejected) jsonl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600200"/>
            <a:ext cx="2743200" cy="86868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Prefix / LoRA training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(freeze phi-3-mini)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600200"/>
            <a:ext cx="2743200" cy="868680"/>
          </a:xfrm>
          <a:prstGeom prst="roundRect">
            <a:avLst/>
          </a:prstGeom>
          <a:solidFill>
            <a:srgbClr val="DEEAF6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Secure adapter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prefix ≈ 6.3 MB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029968"/>
            <a:ext cx="274320" cy="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029968"/>
            <a:ext cx="274320" cy="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86800" y="2029968"/>
            <a:ext cx="274320" cy="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378440" y="2514600"/>
            <a:ext cx="0" cy="54864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645920" y="3063240"/>
            <a:ext cx="873252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45920" y="3063240"/>
            <a:ext cx="0" cy="54864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0040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11880"/>
            <a:ext cx="2468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Generate response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693 × 10 samples ×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611880"/>
            <a:ext cx="2468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Normalize response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(wrap fence-less code)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11880"/>
            <a:ext cx="2468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Static analyzer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semgrep / weggli / regex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611880"/>
            <a:ext cx="2468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Score detect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(vulnerable ratio)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17520" y="4041648"/>
            <a:ext cx="274320" cy="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52160" y="4041648"/>
            <a:ext cx="274320" cy="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041648"/>
            <a:ext cx="274320" cy="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737360" y="4892040"/>
            <a:ext cx="38404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Utility test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HumanEval / MultiPL-E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892040"/>
            <a:ext cx="38404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Check degeneration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length / parse rate / stub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Normalize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SAST only detects code inside a fence（```）</a:t>
            </a:r>
          </a:p>
          <a:p>
            <a:pPr lvl="1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– Fence 是 Markdown 語法，沒有任何地方能設定——模型加不加是 instruction tuning 學來的習慣</a:t>
            </a:r>
          </a:p>
          <a:p>
            <a:pPr lvl="1">
              <a:spcAft>
                <a:spcPts val="400"/>
              </a:spcAft>
            </a:pPr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– 而 benchmark 的 prompt 結尾寫著 "Only return the code, don't include any other information" → 模型不加 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ProSec  detect_all.py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23160"/>
            <a:ext cx="548640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def parse_code_blocks(text):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code_blocks = []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in_code_block = False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for line in text.split('\n'):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  if '```' in line: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      in_code_block = not in_code_block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  elif in_code_block: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      code_blocks.append(line)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    return '\n'.join(code_blocks)   # 沒 fence → ""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eval/normalize_responses.py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423160"/>
            <a:ext cx="548640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if has_code_block(resp):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new.append(resp)                # 已有 fence，不動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    new.append(f"```\n{resp}\n```")   # 補上 fence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3566160"/>
          <a:ext cx="548640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模型輸出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抽取結果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判定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有 fence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完整程式碼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不安全 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沒有 fence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"" 空字串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「安全」← 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補 fence 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完整程式碼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不安全 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43400"/>
            <a:ext cx="548640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84% 的 code block 是空的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漏洞率被稀釋約 6 倍，而整條鏈沒有任何一步報錯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修完後 base 才與論文對齊：JS 52.24 vs 52.24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Degeneration &amp; Additional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SAST can only report vulnerabilities in the code it can read</a:t>
            </a:r>
          </a:p>
          <a:p>
            <a:pPr lvl="1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– Anything that reduces readable code lowers the vulnerability rate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155679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9711"/>
                <a:gridCol w="4581797"/>
                <a:gridCol w="398417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Check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Prevents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Threshold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Degeneration gate
• code length
• AST parse / bracket
• stub / TODO / {}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模型靠少寫程式碼來降低漏洞率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長度保留 ≥ 90%
語法完整率 Δ ≥ −3 pt
stub 率 Δ ≤ +2 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Pairwise drop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生成被截斷時，若只丟單邊會破壞比較基礎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任一邊截斷就兩邊一起丟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Suppression ratio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把「兩側一起壓低」誤判成模型學得更好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Δrejected ÷ Δchosen；≈ 1 為失敗，&gt; 2 健康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EX：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4480560"/>
          <a:ext cx="6583678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247"/>
                <a:gridCol w="1423498"/>
                <a:gridCol w="1601435"/>
                <a:gridCol w="142349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max_new_tokens = 512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漏洞率 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語法完整率 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程式碼長度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ck800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−25.60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−46.00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+75.6%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ck800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−4.40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−4.60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+1.6%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21040" y="4480560"/>
            <a:ext cx="347472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程式碼被截斷會同時造成</a:t>
            </a:r>
          </a:p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語法完整率下降 + 漏洞率下降</a:t>
            </a:r>
          </a:p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提高到 1024 後：−46.00 → +0.25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DPO lr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β=0.05 · batch 64 · 16,000 samples = 250 steps · seed 42 · max_length 2048 · 兩臂同一張網格、同一條選擇規則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選擇規則：比值 ≥ 3 且梯度未爆的最高 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LoRA r=8 all-linear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11155677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963"/>
                <a:gridCol w="2320381"/>
                <a:gridCol w="2320381"/>
                <a:gridCol w="1249436"/>
                <a:gridCol w="1517172"/>
                <a:gridCol w="892454"/>
                <a:gridCol w="892454"/>
                <a:gridCol w="124943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chosen 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rejected 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壓rej/壓chosen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margin early→late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acc late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grad 峰值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chosen 保留/token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5e-6 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−0.0026 → −0.1500 (−0.147)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−0.0127 → −0.6952 (−0.682)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4.63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0.010 → 0.545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0.724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99.3%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2e-5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−0.0330 → −3.4503 (−3.417)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−0.1687 → −8.2426 (−8.074)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0.136 → 4.792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0.975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86.0%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5e-5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−0.1972 → −17.2034 (−17.006)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−1.0295 → −34.0913 (−33.062)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1.94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0.832 → 16.888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0.989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366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1e-4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−1.0352 → −36.6601 (−35.625)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−2.9977 → −69.9023 (−66.905)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1.962 → 33.242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0.995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2e-4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−3.2846 → −35.3859 (−32.101)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−7.5961 → −83.7929 (−76.197)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2.37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4.311 → 48.407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0.997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608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21.2%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Prefix nvt=16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069080"/>
          <a:ext cx="11155677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963"/>
                <a:gridCol w="2320381"/>
                <a:gridCol w="2320381"/>
                <a:gridCol w="1249436"/>
                <a:gridCol w="1517172"/>
                <a:gridCol w="892454"/>
                <a:gridCol w="892454"/>
                <a:gridCol w="124943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chosen 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rejected 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壓rej/壓chosen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margin early→late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acc late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grad 峰值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chosen 保留/token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5e-6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−0.7780 → −0.7383 (+0.040)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−0.8421 → −0.8575 (−0.015)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∞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0.064 → 0.119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0.554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96.8%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2e-5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−0.7735 → −0.7394 (+0.034)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−0.8484 → −0.9466 (−0.098)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∞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0.075 → 0.207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0.612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96.8%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5e-5 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−0.7670 → −0.8250 (−0.058)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−0.8613 → −1.2268 (−0.365)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6.30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0.094 → 0.402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0.692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96.4%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1e-4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−0.7637 → −1.0707 (−0.307)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−0.8921 → −1.6975 (−0.805)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0.129 → 0.627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0.730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3722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95.4%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2e-4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−0.8065 → −4.2191 (−3.413)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−1.0106 → −5.2037 (−4.193)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1.23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0.204 → 0.985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0.647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3672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83.1%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兩個最佳點差 10 倍。同一個 5e-5：prefix 在最佳點（6.30），LoRA 已只剩 47% 機率保留（1.94）。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DPO full train —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β=0.05 · batch 64 · 800 steps · seed 42 · 兩臂唯一差別是 --peft_method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9144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01752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 lr = 5e-6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 lr = 5e-5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可訓練參數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12,582,912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3,145,728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chosen 每 token 機率保留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88.8%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94.6%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rewards/accuracies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0.975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0.753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rewards/margins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0.82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grad_norm 峰值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18,657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206240"/>
            <a:ext cx="1115568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prefix 的 18,657 不是發散：5 次尖峰、量級遞減，chosen 每次都回升（step 245 一度 −3.24，最終 −1.27）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DPO 的 reference model 錨住了絕對機率——同樣的尖峰在 SimPO 下是不可逆的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49240"/>
            <a:ext cx="1115568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⚠ 兩臂的參數量差 4 倍，所以任何差距目前都是被混淆的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DPO full train —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100 prompts × 5 samples · C / C++ · max_new_tokens = 1024 · 成對移除截斷樣本 · 標準誤 ≈ 2.2 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77823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3472"/>
                <a:gridCol w="1404518"/>
                <a:gridCol w="1404518"/>
                <a:gridCol w="1755648"/>
                <a:gridCol w="158008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Vulnerable code ratio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OFF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相對降幅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49.41%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31.62%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−17.80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−36.0%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49.27%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43.45%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−5.82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−11.8%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分語言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 −6.58 / cpp −5.04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Degeneration gate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520440"/>
          <a:ext cx="11155677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5866"/>
                <a:gridCol w="2685626"/>
                <a:gridCol w="2272453"/>
                <a:gridCol w="1859279"/>
                <a:gridCol w="227245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語法完整率 Δ
(未截斷者)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程式碼長度
vs OFF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截斷率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守門判定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+0.25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226%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14.4%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通過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−4.74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103%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未過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074920"/>
            <a:ext cx="11155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Prefix 這一臂沒有通過守門（門檻 −3），所以 −5.82 不得單獨回報，必須並列退化指標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LoRA 通過守門，但程式碼長度 226%、截斷率 14.4%，是否在鑽偵測器漏洞仍未釐清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Security — 與論文對照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155678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194560"/>
                <a:gridCol w="2377440"/>
                <a:gridCol w="1645919"/>
                <a:gridCol w="2926079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PEFT · Objective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Vulnerable ratio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相對降幅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評測範圍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ProSec Table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· SimPO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50.57 → 33.47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−33.8%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 語言 / 694 題 / 10 samples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ProSec Table 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· DPO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40.76 → 34.65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隨機子集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This work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· DPO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49.41 → 31.62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−36.0%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 / C++ / 100 題 / 5 samples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This work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· DPO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49.27 → 43.45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−11.8%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C / C++ / 100 題 / 5 samples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3840480"/>
            <a:ext cx="1115568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LoRA 復現的相對降幅與論文主結果同量級 → 資料前處理與訓練管線沒有問題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但還不能說「對上了」：① 只跑 C / C++，正是 base 最脆弱的兩種語言（C 的 base 就有 ~70%）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② 100 題不是 693 題　③ 我們用 DPO，論文主結果用 SimPO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DPO full train — utility (HumanEval)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164 題 · greedy · max_new_tokens = 2048 · 截斷 0 / 164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772397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9745"/>
                <a:gridCol w="1943099"/>
                <a:gridCol w="1943099"/>
                <a:gridCol w="176645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pass@1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OFF (base)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70.73%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66.46%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−4.27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70.73%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59.76%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−10.98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063240"/>
            <a:ext cx="11155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H2 被推翻——原假設是 prefix 傷 utility 較少，實測是 LoRA 的 2.6 倍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加上安全性 −5.82 vs −17.80 → prefix 兩個軸都輸：學得比較少，卻傷得比較重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退化守門沒有預測到：prefix 長度保留 103%、看起來完好，pass@1 卻掉 11 pt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– 三條守門條件是「有沒有大幅退化」的篩子，不能代替 pass@1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逐題檢查：27 題退步 / 9 題進步，淨掉 18 題。抽查確認是真的能力退步，不是生成或抽取的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附帶發現：舊的 utility 數字被截斷污染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5212080"/>
          <a:ext cx="5852160" cy="960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92608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max_new_tokens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base HumanEval pass@1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512（舊實驗用的）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64.63%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2048（現在）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70.73%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66560" y="5212080"/>
            <a:ext cx="50292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光是 base 就被低估 6.1 pt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→ Exp1 / Exp2 / MultiPL-E 的舊 utility 數字全部不可信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目前的判定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15568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4572000"/>
                <a:gridCol w="347472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假設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內容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實測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狀態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H1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能以遠少的參數取得大部分安全性改善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−5.82 vs LoRA −17.80（約 1/3）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被推翻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H2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的 utility 掉幅小於 LoRA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−10.98 vs LoRA −4.27（2.6 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被推翻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3108960"/>
            <a:ext cx="1115568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但兩個假設都還不能結案——目前的比較在參數量上差 4 倍</a:t>
            </a:r>
          </a:p>
          <a:p>
            <a:pPr algn="ctr">
              <a:spcAft>
                <a:spcPts val="100"/>
              </a:spcAft>
            </a:pPr>
            <a:r>
              <a:rPr sz="13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Prefix nvt=16 是 3,145,728；LoRA all-linear 是 12,582,912</a:t>
            </a:r>
          </a:p>
          <a:p>
            <a:pPr algn="ctr">
              <a:spcAft>
                <a:spcPts val="100"/>
              </a:spcAft>
            </a:pPr>
            <a:r>
              <a:rPr sz="13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「prefix 較弱」與「prefix 只拿到四分之一預算」目前分不開，只有前者叫能力邊界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已經排除的可能性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892040"/>
          <a:ext cx="1115568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3840480"/>
                <a:gridCol w="36576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懷疑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檢查方式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結果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截斷讓 LoRA 的安全性虛高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成對移除截斷後重算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排除：差距 12.6 → 12.0 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截斷讓 pass@1 被低估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max_new_tokens 提到 2048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排除：截斷 0 / 164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 與 KV cache 的互動有 bug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逐題檢查 27 題退步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排除：是真的能力退步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資料前處理或訓練管線有錯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 走同一支程式，只差 peft config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排除：LoRA 行為合理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000000"/>
                </a:solidFill>
                <a:latin typeface="Calibri Light"/>
                <a:ea typeface="Microsoft JhengHei"/>
                <a:cs typeface="Calibri Light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① Parameter matching（最優先，做完才有資格對 H1 / H2 下結論）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9601200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926080"/>
                <a:gridCol w="2926080"/>
                <a:gridCol w="22860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配對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Prefix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LoRA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可訓練參數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高容量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nvt = 64（待跑）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all-linear ✔ 已有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12,582,912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低容量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nvt = 16 ✔ 已有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只掛 qkv_proj（待跑）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  <a:ea typeface="Microsoft JhengHei"/>
                          <a:cs typeface="Calibri"/>
                        </a:rPr>
                        <a:t>3,145,728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788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② Masked DPO — 只對真正不同的 token 算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動機：edit ratio ρ 中位數 0.358 → 64% 的 token 兩邊相同，對偏好訊號沒有貢獻卻完整計入 loss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外部驗證：PTC (DSN 2025) 用同樣的 diff mask，no control 55.0% → line 71.3% → mixed 86.7%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前置檢查（成敗關鍵）：17 個 edit hunk 有多少真的落在分析器標記的漏洞行上？若多為無關重寫則放棄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③ CWE-specific 多 Prefix — 凸顯可插拔特性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一個 base model 掛多組 ≈6 MB 模組，切換只是換一組 past_key_values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C00000"/>
                </a:solidFill>
                <a:latin typeface="Calibri"/>
                <a:ea typeface="Microsoft JhengHei"/>
                <a:cs typeface="Calibri"/>
              </a:rPr>
              <a:t>• LoRA 做不到的是「同一個 batch 內不同請求用不同 policy」→ 要量的是切換延遲與混合 batch 吞吐量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• 必要對照：用同樣大小的隨機混合子集訓一個通用 prefix，否則分不出「專用有效」還是「資料變少」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  <a:ea typeface="Microsoft JhengHei"/>
                <a:cs typeface="Calibri"/>
              </a:rPr>
              <a:t>④ 補完評測：MultiPL-E 兩臂 · 全套 693 題 × 10 samples × 5 語言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